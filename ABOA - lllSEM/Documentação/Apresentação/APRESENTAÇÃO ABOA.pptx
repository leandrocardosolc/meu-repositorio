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B0802030000000004"/>
      <p:regular r:id="rId36"/>
    </p:embeddedFont>
    <p:embeddedFont>
      <p:font typeface="Inter" charset="1" panose="020B05020300000000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41347" y="1857485"/>
            <a:ext cx="9228678" cy="5652516"/>
            <a:chOff x="0" y="0"/>
            <a:chExt cx="12304903" cy="75366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04903" cy="7536688"/>
            </a:xfrm>
            <a:custGeom>
              <a:avLst/>
              <a:gdLst/>
              <a:ahLst/>
              <a:cxnLst/>
              <a:rect r="r" b="b" t="t" l="l"/>
              <a:pathLst>
                <a:path h="7536688" w="12304903">
                  <a:moveTo>
                    <a:pt x="0" y="0"/>
                  </a:moveTo>
                  <a:lnTo>
                    <a:pt x="12304903" y="0"/>
                  </a:lnTo>
                  <a:lnTo>
                    <a:pt x="12304903" y="7536688"/>
                  </a:lnTo>
                  <a:lnTo>
                    <a:pt x="0" y="75366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7567066"/>
            <a:ext cx="5912647" cy="2036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b="true" sz="2354" spc="47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Celso Sebastião</a:t>
            </a:r>
          </a:p>
          <a:p>
            <a:pPr algn="l">
              <a:lnSpc>
                <a:spcPts val="3294"/>
              </a:lnSpc>
            </a:pPr>
            <a:r>
              <a:rPr lang="en-US" b="true" sz="2354" spc="47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Leandro Cardoso</a:t>
            </a:r>
          </a:p>
          <a:p>
            <a:pPr algn="l">
              <a:lnSpc>
                <a:spcPts val="3294"/>
              </a:lnSpc>
            </a:pPr>
            <a:r>
              <a:rPr lang="en-US" b="true" sz="2354" spc="47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Jhonathan Henrique</a:t>
            </a:r>
          </a:p>
          <a:p>
            <a:pPr algn="l">
              <a:lnSpc>
                <a:spcPts val="3294"/>
              </a:lnSpc>
            </a:pPr>
          </a:p>
          <a:p>
            <a:pPr algn="l">
              <a:lnSpc>
                <a:spcPts val="329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32804" y="2943723"/>
            <a:ext cx="6357080" cy="3891058"/>
            <a:chOff x="0" y="0"/>
            <a:chExt cx="8476107" cy="51880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76107" cy="5188077"/>
            </a:xfrm>
            <a:custGeom>
              <a:avLst/>
              <a:gdLst/>
              <a:ahLst/>
              <a:cxnLst/>
              <a:rect r="r" b="b" t="t" l="l"/>
              <a:pathLst>
                <a:path h="5188077" w="8476107">
                  <a:moveTo>
                    <a:pt x="0" y="0"/>
                  </a:moveTo>
                  <a:lnTo>
                    <a:pt x="8476107" y="0"/>
                  </a:lnTo>
                  <a:lnTo>
                    <a:pt x="8476107" y="5188077"/>
                  </a:lnTo>
                  <a:lnTo>
                    <a:pt x="0" y="51880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7" r="0" b="-3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271157" y="522842"/>
            <a:ext cx="2368526" cy="783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34"/>
              </a:lnSpc>
            </a:pPr>
            <a:r>
              <a:rPr lang="en-US" b="true" sz="3667" spc="293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ÍNDICE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714620"/>
            <a:ext cx="3426720" cy="79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 spc="181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DESENVOLVIMENTO WEB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59033" y="1982806"/>
            <a:ext cx="1692900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b="true" sz="2270" spc="385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3 A 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913400"/>
            <a:ext cx="2621445" cy="11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 spc="181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INTERAÇÃO HUMANO COMPUTADOR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20834" y="3381611"/>
            <a:ext cx="2569297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b="true" sz="2270" spc="385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7 A 14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570293"/>
            <a:ext cx="2901891" cy="1190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 spc="181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BANCO DE DADOS NÃO RELACIONAL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67904" y="4992815"/>
            <a:ext cx="1875157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b="true" sz="2270" spc="385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15 A 19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89111"/>
            <a:ext cx="4095254" cy="790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 spc="181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GESTÃO AGIL DE PROJETOS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51369" y="6657297"/>
            <a:ext cx="1908227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1"/>
              </a:lnSpc>
            </a:pPr>
            <a:r>
              <a:rPr lang="en-US" b="true" sz="2270" spc="385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20 A 28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8634" y="4662488"/>
            <a:ext cx="15330731" cy="104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b="true" sz="7499" spc="1274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DESENVOLVIMENTO WEB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28620"/>
            <a:ext cx="9361670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DESENVOLVIMENTO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0605" y="3366235"/>
            <a:ext cx="15252842" cy="4522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b="true" sz="2999" spc="50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REACT(FRONTEND):</a:t>
            </a: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UTILIZAMOS REACT PARA CONSTRUIR UMA INTERFACE RÁPIDA, MODERNA E RESPONSIVA.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ELE PERMITE QUE O USUÁRIO NAVEGUE PELO SISTEMA, VISUALIZE RECOMENDAÇÕES E INTERAJA COM FILTROS E AVALIAÇÕES DE FORMA FLUIDA.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COMPONENTES REUTILIZÁVEIS GARANTEM ORGANIZAÇÃO E AGILIDADE NO DESENVOLVIMENTO VISUAL.</a:t>
            </a:r>
          </a:p>
          <a:p>
            <a:pPr algn="l">
              <a:lnSpc>
                <a:spcPts val="3236"/>
              </a:lnSpc>
            </a:pPr>
          </a:p>
          <a:p>
            <a:pPr algn="l" marL="819345" indent="-204836" lvl="3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28620"/>
            <a:ext cx="9361670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DESENVOLVIMENTO WEB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00605" y="3366235"/>
            <a:ext cx="15252842" cy="5341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b="true" sz="2999" spc="506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NODE.JS(BACKEND):</a:t>
            </a: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BACKEND FOI DESENVOLVIDO EM NODE.JS PARA GARANTIR DESEMPENHO E ESCALABILIDADE.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ELE É RESPONSÁVEL POR PROCESSAR AS REQUISIÇÕES DO USUÁRIO, COMUNICAR COM O BANCO DE DADOS E APLICAR AS REGRAS DO SISTEMA DE RECOMENDAÇÃO.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API CRIADA ENTREGA RAPIDAMENTE OS DADOS PARA O FRONTEND E MANTÉM TODA LÓGICA DE NEGÓCIO CENTRALIZADA.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</a:p>
          <a:p>
            <a:pPr algn="l" marL="819345" indent="-204836" lvl="3">
              <a:lnSpc>
                <a:spcPts val="323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2908" y="3306024"/>
            <a:ext cx="13302183" cy="493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REACT SE COMUNICA COM NOSSA API EM NODE.JS ATRAVÉS DE ENDPOINTS REST.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FRONTEND ENVIA REQUISIÇÕES, O BACKEND PROCESSA OS DADOS E DEVOLVE APENAS AS INFORMAÇÕES NECESSÁRIAS PARA EXIBIR AS RECOMENDAÇÕES.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ESSA INTEGRAÇÃO GARANTE RESPOSTAS RÁPIDAS, ORGANIZAÇÃO DA LÓGICA DE NEGÓCIO E UMA EXPERIÊNCIA FLUIDA E DINÂMICA PARA O USUÁRIO.</a:t>
            </a:r>
          </a:p>
          <a:p>
            <a:pPr algn="l">
              <a:lnSpc>
                <a:spcPts val="323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9361670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DESENVOLVIMENTO WEB - INTEGRAÇÃO</a:t>
            </a:r>
          </a:p>
        </p:txBody>
      </p:sp>
    </p:spTree>
  </p:cSld>
  <p:clrMapOvr>
    <a:masterClrMapping/>
  </p:clrMapOvr>
  <p:transition spd="slow">
    <p:cover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2914" y="3643313"/>
            <a:ext cx="8922172" cy="3086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b="true" sz="7499" spc="1274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INTERAÇÃO HUMANO COMPUTADOR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0130" y="759371"/>
            <a:ext cx="8269450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COMPREENDER O CONCEITO DE IHC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2909" y="3920474"/>
            <a:ext cx="13302183" cy="3293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APLICAMOS OS PRINCÍPIOS DE INTERAÇÃO HUMANO-COMPUTADOR PARA CONSTRUIR UMA INTERFACE INTUITIVA.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O FOCO FOI FACILITAR A NAVEGAÇÃO, REDUZIR A COMPLEXIDADE E GARANTIR QUE O USUÁRIO ENCONTRASSE BARES E RESTAURANTES COM RAPIDEZ E CLAREZA.</a:t>
            </a:r>
          </a:p>
        </p:txBody>
      </p:sp>
    </p:spTree>
  </p:cSld>
  <p:clrMapOvr>
    <a:masterClrMapping/>
  </p:clrMapOvr>
  <p:transition spd="fast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28620"/>
            <a:ext cx="11138931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AVALIAÇÃO HEURÍSTICA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2908" y="3920474"/>
            <a:ext cx="13302183" cy="2474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 INTERFACE DO ABOA FOI AVALIADA SEGUNDO AS HEURÍSTICAS DE NIELSEN: VISIBILIDADE, CONSISTÊNCIA, PREVENÇÃO DE ERROS, LINGUAGEM SIMPLES, DESIGN MINIMALISTA, LIBERDADE DO USUÁRIO E FEEDBACK CLARO, GARANTINDO UMA EXPERIÊNCIA INTUITIVA E EFICIENTE.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93673" y="89488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28620"/>
            <a:ext cx="8208395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ACESSIBILIDADE E USABILIDADE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2909" y="3920474"/>
            <a:ext cx="13302183" cy="288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CRIAMOS PÁGINAS RESPONSIVAS, COM BOA HIERARQUIA VISUAL, TEXTOS LEGÍVEIS, BOTÕES CLAROS E FLUXO SIMPLES.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 INTENÇÃO FOI GARANTIR QUE DIFERENTES USUÁRIOS, DISPOSITIVOS E CONTEXTOS TIVESSEM UMA NAVEGAÇÃO FLUIDA E ACESSÍVEL.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51"/>
            <a:ext cx="14312573" cy="223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INSPEÇÃO SEMIÓTICA: CRIAÇÃO DO SIGNO VISUAL</a:t>
            </a:r>
          </a:p>
          <a:p>
            <a:pPr algn="l">
              <a:lnSpc>
                <a:spcPts val="583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492909" y="3715599"/>
            <a:ext cx="13302183" cy="288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FOI DESENVOLVIDO UM SIGNO VISUAL QUE REPRESENTA A PROPOSTA DO ABOA: RECOMENDAÇÃO RÁPIDA, CONFIÁVEL E BASEADA EM LOCALIZAÇÃO.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ÍCONES DE ESTRELA, LOCALIZAÇÃO E CARDÁPIO AJUDAM A COMUNICAR A FINALIDADE DA PLATAFORMA AO USUÁRIO.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493673" y="89488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38251"/>
            <a:ext cx="14312573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INSPEÇÃO SEMIÓTICA: COMUNICAÇÃO DA INTERFACE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2908" y="3920387"/>
            <a:ext cx="13302183" cy="288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OS ELEMENTOS VISUAIS DA INTERFACE COMUNICAM AÇÕES ESPECÍFICAS: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ESTRELAS INDICAM AVALIAÇÃO, CARDS SUGEREM CLIQUE, FOTOS REFORÇAM TRANSPARÊNCIA E OS TEXTOS ORIENTAM O COMPORTAMENTO ESPERADO.</a:t>
            </a:r>
          </a:p>
          <a:p>
            <a:pPr algn="l">
              <a:lnSpc>
                <a:spcPts val="323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5493673" y="89488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slow">
    <p:wipe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0810" y="308229"/>
            <a:ext cx="12344383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AFFORDANCE NA INTERFACE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94413" y="3488023"/>
            <a:ext cx="16495229" cy="493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FORAM INSERIDOS ELEMENTOS DE AFFORDANCE PARA TORNAR O SISTEMA MAIS INTUITIVO: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ÍCONES DE ESTRELA PARA AVALIAÇÃO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CARDS CLICÁVEIS PARA VER MAIS DETALHES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BOTÕES COM FORMATO E COR QUE SUGEREM INTERAÇÃO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CAMPO DE BUSCA DESTACADO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0810" y="308229"/>
            <a:ext cx="12344383" cy="150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AFFORDANCE PERCEPTÍVEL E COGNITIVA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2909" y="3715599"/>
            <a:ext cx="13302183" cy="288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 INTERFACE UTILIZA FORMAS, CORES, SÍMBOLOS E TEXTOS QUE DEIXAM CLARO O QUE PODE SER CLICADO, ARRASTADO OU SELECIONADO.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ISSO REDUZ ESFORÇO MENTAL E AJUDA O USUÁRIO A NAVEGAR SEM DÚVIDAS.</a:t>
            </a:r>
          </a:p>
          <a:p>
            <a:pPr algn="l">
              <a:lnSpc>
                <a:spcPts val="3239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99798" y="4152900"/>
            <a:ext cx="11288405" cy="206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b="true" sz="7499" spc="1274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BANCO DE DADOS NÃO RELACIONAL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</p:spTree>
  </p:cSld>
  <p:clrMapOvr>
    <a:masterClrMapping/>
  </p:clrMapOvr>
  <p:transition spd="fast">
    <p:wipe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0016"/>
            <a:ext cx="10346959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BANCO DE DADOS NÃO RELACIONAL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492909" y="3715599"/>
            <a:ext cx="13302183" cy="2884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USAMOS O MONGODB PARA ARMAZENAR DADOS DOS BARES E RESTAURANTES.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ESTRUTURA FLEXÍVEL DOS DOCUMENTOS FACILITOU ORGANIZAR INFORMAÇÕES VARIADAS E PERMITIU CONSULTAS RÁPIDAS PARA O NOSSO SISTEMA DE RECOMENDAÇÃO.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0016"/>
            <a:ext cx="15135516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SISTEMAS DE BANCO DE DADOS PARALELOS E DISTRIBUÍDOS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492909" y="3920387"/>
            <a:ext cx="13302183" cy="24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MONGODB TRABALHA BEM EM AMBIENTE DISTRIBUÍDO, PERMITINDO ESCALABILIDADE.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ISSO GARANTE QUE O BACKEND POSSA ATENDER VÁRIAS REQUISIÇÕES AO MESMO TEMPO SEM PERDA DE DESEMPENHO.</a:t>
            </a:r>
          </a:p>
        </p:txBody>
      </p:sp>
    </p:spTree>
  </p:cSld>
  <p:clrMapOvr>
    <a:masterClrMapping/>
  </p:clrMapOvr>
  <p:transition spd="fast">
    <p:cover dir="d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20922" y="653403"/>
            <a:ext cx="15938400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DATA WAREHOUSE E MINERAÇÃO DE DADOS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039090" y="3488023"/>
            <a:ext cx="13302183" cy="24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APLICAMOS CONCEITOS DE MINERAÇÃO AO ANALISAR  CATEGORIAS E PADRÕES DOS USUÁRIOS.</a:t>
            </a: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ESSAS INFORMAÇÕES FORAM USADAS PARA MELHORAR A LÓGICA DE RECOMENDAÇÃO DO SISTEMA.</a:t>
            </a:r>
          </a:p>
        </p:txBody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0810" y="308229"/>
            <a:ext cx="11832291" cy="2234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MÉTODOS SEGUROS PARA GERENCIAMENTO DO BANCO DE DADOS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92908" y="3920387"/>
            <a:ext cx="13302183" cy="2474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ADOTAMOS BOAS PRÁTICAS COMO AUTENTICAÇÃO SEGURA, CONTROLE DE PERMISSÕES, VALIDAÇÃO DE DADOS E USO DE CONEXÕES PROTEGIDAS.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GARANTINDO A SEGURANÇA DAS INFORMAÇÕES ARMAZENADAS NO MONGODB.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82914" y="4152900"/>
            <a:ext cx="8922172" cy="2066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b="true" sz="7499" spc="1274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GESTÃO AGIL DE PROJETOS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</p:spTree>
  </p:cSld>
  <p:clrMapOvr>
    <a:masterClrMapping/>
  </p:clrMapOvr>
  <p:transition spd="slow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28620"/>
            <a:ext cx="10519591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USO DO SCRUM NO DESENVOLVIMENTO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2909" y="3316240"/>
            <a:ext cx="13302183" cy="493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ADOTAMOS O SCRUM PARA ORGANIZAR O TRABALHO EM SPRINTS, DEFINIR PRIORIDADES E DISTRIBUIR TAREFAS ENTRE A EQUIPE.</a:t>
            </a: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AS REUNIÕES DE ACOMPANHAMENTO AJUDARAM A IDENTIFICAR BLOQUEIOS RAPIDAMENTE E MANTER O PROJETO AVANÇANDO DE FORMA CONSTANTE. COM ISSO, CONSEGUIMOS ENTREGAR FUNCIONALIDADES DE FORMA MAIS ORGANIZADA, COLABORATIVA E COM MELHORIAS CONTÍNUAS AO LONGO DO DESENVOLVIMENTO.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circl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0" b="-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28620"/>
            <a:ext cx="10519591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SCRUM MASTER ROTATIVO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92909" y="3316240"/>
            <a:ext cx="13302183" cy="493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ADOTAMOS A PRÁTICA DO SCRUM MASTER ROTATIVO, ONDE CADA MEMBRO DA EQUIPE ASSUMIU O PAPEL EM DIFERENTES SPRINTS.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ISSO DISTRIBUIU RESPONSABILIDADES, AUMENTOU O ENTENDIMENTO COLETIVO DO PROCESSO ÁGIL E FORTALECEU A COLABORAÇÃO.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FCFCFC"/>
                </a:solidFill>
                <a:latin typeface="Inter"/>
                <a:ea typeface="Inter"/>
                <a:cs typeface="Inter"/>
                <a:sym typeface="Inter"/>
              </a:rPr>
              <a:t>COM TODOS EXPERIMENTANDO O PAPEL, A COMUNICAÇÃO E A ORGANIZAÇÃO DO TIME MELHORARAM SIGNIFICATIVAMENTE.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2654" y="2496425"/>
            <a:ext cx="13566650" cy="6300037"/>
          </a:xfrm>
          <a:custGeom>
            <a:avLst/>
            <a:gdLst/>
            <a:ahLst/>
            <a:cxnLst/>
            <a:rect r="r" b="b" t="t" l="l"/>
            <a:pathLst>
              <a:path h="6300037" w="13566650">
                <a:moveTo>
                  <a:pt x="0" y="0"/>
                </a:moveTo>
                <a:lnTo>
                  <a:pt x="13566650" y="0"/>
                </a:lnTo>
                <a:lnTo>
                  <a:pt x="13566650" y="6300037"/>
                </a:lnTo>
                <a:lnTo>
                  <a:pt x="0" y="6300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" r="0" b="-3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28620"/>
            <a:ext cx="10519591" cy="150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USO DO SCRUM NO DESENVOLVIMENTO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13" t="0" r="-114" b="0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864954" y="1832600"/>
            <a:ext cx="12762914" cy="7273900"/>
          </a:xfrm>
          <a:custGeom>
            <a:avLst/>
            <a:gdLst/>
            <a:ahLst/>
            <a:cxnLst/>
            <a:rect r="r" b="b" t="t" l="l"/>
            <a:pathLst>
              <a:path h="7273900" w="12762914">
                <a:moveTo>
                  <a:pt x="0" y="0"/>
                </a:moveTo>
                <a:lnTo>
                  <a:pt x="12762913" y="0"/>
                </a:lnTo>
                <a:lnTo>
                  <a:pt x="12762913" y="7273899"/>
                </a:lnTo>
                <a:lnTo>
                  <a:pt x="0" y="7273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0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10519591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CANVAS</a:t>
            </a:r>
          </a:p>
        </p:txBody>
      </p:sp>
    </p:spTree>
  </p:cSld>
  <p:clrMapOvr>
    <a:masterClrMapping/>
  </p:clrMapOvr>
  <p:transition spd="slow">
    <p:cover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587184" y="2261314"/>
            <a:ext cx="9113632" cy="5764372"/>
          </a:xfrm>
          <a:custGeom>
            <a:avLst/>
            <a:gdLst/>
            <a:ahLst/>
            <a:cxnLst/>
            <a:rect r="r" b="b" t="t" l="l"/>
            <a:pathLst>
              <a:path h="5764372" w="9113632">
                <a:moveTo>
                  <a:pt x="0" y="0"/>
                </a:moveTo>
                <a:lnTo>
                  <a:pt x="9113632" y="0"/>
                </a:lnTo>
                <a:lnTo>
                  <a:pt x="9113632" y="5764372"/>
                </a:lnTo>
                <a:lnTo>
                  <a:pt x="0" y="57643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10519591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DIAGRAMAS UML</a:t>
            </a:r>
          </a:p>
        </p:txBody>
      </p:sp>
    </p:spTree>
  </p:cSld>
  <p:clrMapOvr>
    <a:masterClrMapping/>
  </p:clrMapOvr>
  <p:transition spd="slow">
    <p:cover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93371" y="2070970"/>
            <a:ext cx="11301259" cy="6145060"/>
          </a:xfrm>
          <a:custGeom>
            <a:avLst/>
            <a:gdLst/>
            <a:ahLst/>
            <a:cxnLst/>
            <a:rect r="r" b="b" t="t" l="l"/>
            <a:pathLst>
              <a:path h="6145060" w="11301259">
                <a:moveTo>
                  <a:pt x="0" y="0"/>
                </a:moveTo>
                <a:lnTo>
                  <a:pt x="11301258" y="0"/>
                </a:lnTo>
                <a:lnTo>
                  <a:pt x="11301258" y="6145060"/>
                </a:lnTo>
                <a:lnTo>
                  <a:pt x="0" y="6145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10519591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DIAGRAMAS UML</a:t>
            </a:r>
          </a:p>
        </p:txBody>
      </p:sp>
    </p:spTree>
  </p:cSld>
  <p:clrMapOvr>
    <a:masterClrMapping/>
  </p:clrMapOvr>
  <p:transition spd="slow">
    <p:cover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6662" y="3228155"/>
            <a:ext cx="15477532" cy="3830689"/>
          </a:xfrm>
          <a:custGeom>
            <a:avLst/>
            <a:gdLst/>
            <a:ahLst/>
            <a:cxnLst/>
            <a:rect r="r" b="b" t="t" l="l"/>
            <a:pathLst>
              <a:path h="3830689" w="15477532">
                <a:moveTo>
                  <a:pt x="0" y="0"/>
                </a:moveTo>
                <a:lnTo>
                  <a:pt x="15477532" y="0"/>
                </a:lnTo>
                <a:lnTo>
                  <a:pt x="15477532" y="3830690"/>
                </a:lnTo>
                <a:lnTo>
                  <a:pt x="0" y="3830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10519591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DIAGRAMAS UML</a:t>
            </a:r>
          </a:p>
        </p:txBody>
      </p:sp>
    </p:spTree>
  </p:cSld>
  <p:clrMapOvr>
    <a:masterClrMapping/>
  </p:clrMapOvr>
  <p:transition spd="slow">
    <p:cover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493371" y="2311122"/>
            <a:ext cx="11301259" cy="5664756"/>
          </a:xfrm>
          <a:custGeom>
            <a:avLst/>
            <a:gdLst/>
            <a:ahLst/>
            <a:cxnLst/>
            <a:rect r="r" b="b" t="t" l="l"/>
            <a:pathLst>
              <a:path h="5664756" w="11301259">
                <a:moveTo>
                  <a:pt x="0" y="0"/>
                </a:moveTo>
                <a:lnTo>
                  <a:pt x="11301258" y="0"/>
                </a:lnTo>
                <a:lnTo>
                  <a:pt x="11301258" y="5664756"/>
                </a:lnTo>
                <a:lnTo>
                  <a:pt x="0" y="56647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10519591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DER</a:t>
            </a:r>
          </a:p>
        </p:txBody>
      </p:sp>
    </p:spTree>
  </p:cSld>
  <p:clrMapOvr>
    <a:masterClrMapping/>
  </p:clrMapOvr>
  <p:transition spd="slow">
    <p:cover dir="l"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41273" y="8796462"/>
            <a:ext cx="1918050" cy="1174813"/>
            <a:chOff x="0" y="0"/>
            <a:chExt cx="2557399" cy="1566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57399" cy="1566418"/>
            </a:xfrm>
            <a:custGeom>
              <a:avLst/>
              <a:gdLst/>
              <a:ahLst/>
              <a:cxnLst/>
              <a:rect r="r" b="b" t="t" l="l"/>
              <a:pathLst>
                <a:path h="1566418" w="2557399">
                  <a:moveTo>
                    <a:pt x="0" y="0"/>
                  </a:moveTo>
                  <a:lnTo>
                    <a:pt x="2557399" y="0"/>
                  </a:lnTo>
                  <a:lnTo>
                    <a:pt x="2557399" y="1566418"/>
                  </a:lnTo>
                  <a:lnTo>
                    <a:pt x="0" y="15664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13" t="0" r="-114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92908" y="3306024"/>
            <a:ext cx="13302183" cy="370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999" spc="50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SISTEMA ABOA ATENDE DE FORMA SATISFATÓRIA AOS REQUISITOS DA A2, APRESENTANDO ARQUITETURA MODERNA, USABILIDADE APRIMORADA, MÉTODOS ÁGEIS DE DESENVOLVIMENTO E INTEGRAÇÃO ENTRE MÚLTIPLAS CAMADAS TECNOLÓGICAS. </a:t>
            </a:r>
          </a:p>
          <a:p>
            <a:pPr algn="l">
              <a:lnSpc>
                <a:spcPts val="3236"/>
              </a:lnSpc>
            </a:pPr>
          </a:p>
          <a:p>
            <a:pPr algn="l">
              <a:lnSpc>
                <a:spcPts val="3239"/>
              </a:lnSpc>
            </a:pPr>
            <a:r>
              <a:rPr lang="en-US" sz="2999" spc="50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SOLUÇÃO DEMONSTRA POTENCIAL PARA CRESCIMENTO E APLICABILIDADE REAL.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28620"/>
            <a:ext cx="9361670" cy="768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2"/>
              </a:lnSpc>
            </a:pPr>
            <a:r>
              <a:rPr lang="en-US" b="true" sz="5400" spc="918">
                <a:solidFill>
                  <a:srgbClr val="FF914D"/>
                </a:solidFill>
                <a:latin typeface="Inter Bold"/>
                <a:ea typeface="Inter Bold"/>
                <a:cs typeface="Inter Bold"/>
                <a:sym typeface="Inter Bold"/>
              </a:rPr>
              <a:t>CONCLUSÃO</a:t>
            </a:r>
          </a:p>
        </p:txBody>
      </p:sp>
    </p:spTree>
  </p:cSld>
  <p:clrMapOvr>
    <a:masterClrMapping/>
  </p:clrMapOvr>
  <p:transition spd="slow">
    <p:cover dir="l"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483900" y="4640496"/>
            <a:ext cx="11320199" cy="2389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42"/>
              </a:lnSpc>
            </a:pPr>
            <a:r>
              <a:rPr lang="en-US" b="true" sz="9297" spc="157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MUITO</a:t>
            </a:r>
          </a:p>
          <a:p>
            <a:pPr algn="ctr">
              <a:lnSpc>
                <a:spcPts val="10042"/>
              </a:lnSpc>
            </a:pPr>
            <a:r>
              <a:rPr lang="en-US" b="true" sz="9297" spc="1578">
                <a:solidFill>
                  <a:srgbClr val="FCFCFC"/>
                </a:solidFill>
                <a:latin typeface="Inter Bold"/>
                <a:ea typeface="Inter Bold"/>
                <a:cs typeface="Inter Bold"/>
                <a:sym typeface="Inter Bold"/>
              </a:rPr>
              <a:t>OBRIGADO!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621657" y="1556205"/>
            <a:ext cx="2648712" cy="1622298"/>
            <a:chOff x="0" y="0"/>
            <a:chExt cx="3531616" cy="216306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31616" cy="2163064"/>
            </a:xfrm>
            <a:custGeom>
              <a:avLst/>
              <a:gdLst/>
              <a:ahLst/>
              <a:cxnLst/>
              <a:rect r="r" b="b" t="t" l="l"/>
              <a:pathLst>
                <a:path h="2163064" w="3531616">
                  <a:moveTo>
                    <a:pt x="0" y="0"/>
                  </a:moveTo>
                  <a:lnTo>
                    <a:pt x="3531616" y="0"/>
                  </a:lnTo>
                  <a:lnTo>
                    <a:pt x="3531616" y="2163064"/>
                  </a:lnTo>
                  <a:lnTo>
                    <a:pt x="0" y="216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" r="0" b="-4"/>
              </a:stretch>
            </a:blipFill>
          </p:spPr>
        </p:sp>
      </p:grpSp>
    </p:spTree>
  </p:cSld>
  <p:clrMapOvr>
    <a:masterClrMapping/>
  </p:clrMapOvr>
  <p:transition spd="slow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DAG6OQvve0w</dc:identifier>
  <dcterms:modified xsi:type="dcterms:W3CDTF">2011-08-01T06:04:30Z</dcterms:modified>
  <cp:revision>1</cp:revision>
  <dc:title>APRESENTAÇÃO ABOA </dc:title>
</cp:coreProperties>
</file>